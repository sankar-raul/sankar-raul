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</p:sldIdLst>
  <p:sldSz cx="12192000" cy="6858000"/>
  <p:notesSz cx="6858000" cy="12192000"/>
  <p:embeddedFontLst>
    <p:embeddedFont>
      <p:font typeface="Archivo" panose="020B0604020202020204" charset="0"/>
      <p:regular r:id="rId11"/>
    </p:embeddedFont>
    <p:embeddedFont>
      <p:font typeface="Archivo Bold" panose="020B0604020202020204" charset="0"/>
      <p:regular r:id="rId12"/>
    </p:embeddedFont>
    <p:embeddedFont>
      <p:font typeface="Archivo SemiBold" panose="020B0604020202020204" charset="0"/>
      <p:regular r:id="rId13"/>
    </p:embeddedFont>
    <p:embeddedFont>
      <p:font typeface="Geist Mono" panose="020B0604020202020204" charset="0"/>
      <p:regular r:id="rId14"/>
    </p:embeddedFont>
    <p:embeddedFont>
      <p:font typeface="Geist Mono SemiBold" panose="020B0604020202020204" charset="0"/>
      <p:regular r:id="rId15"/>
    </p:embeddedFont>
    <p:embeddedFont>
      <p:font typeface="Tomorrow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151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470" y="0"/>
            <a:ext cx="12700" cy="6858000"/>
          </a:xfrm>
          <a:prstGeom prst="rect">
            <a:avLst/>
          </a:prstGeom>
          <a:solidFill>
            <a:srgbClr val="0B6B8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"/>
            <a:ext cx="1219170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QUESTION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2140942"/>
            <a:ext cx="1219170" cy="130274"/>
          </a:xfrm>
          <a:prstGeom prst="rect">
            <a:avLst/>
          </a:prstGeom>
          <a:noFill/>
          <a:ln/>
        </p:spPr>
        <p:txBody>
          <a:bodyPr wrap="none" lIns="0" tIns="0" rIns="126997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C3038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053284"/>
            <a:ext cx="1219170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EVIDENCE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0" y="5965627"/>
            <a:ext cx="1219170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CLAIM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01757" y="685800"/>
            <a:ext cx="642603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0B6B8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RESEARCH METHODS · COLLEGE GUIDE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01757" y="949325"/>
            <a:ext cx="6146646" cy="1723033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400" kern="100" spc="-115" dirty="0">
                <a:solidFill>
                  <a:srgbClr val="0C303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Research</a:t>
            </a:r>
            <a:endParaRPr lang="en-US" sz="64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6400" kern="100" spc="-115" dirty="0">
                <a:solidFill>
                  <a:srgbClr val="0C303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Methodology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1701757" y="2948682"/>
            <a:ext cx="6146646" cy="748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2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 researchers move from a question to credible evidence and clear conclusions.</a:t>
            </a:r>
            <a:endParaRPr lang="en-US" sz="2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D0CC03-0C28-81BC-2C9A-99F17247DF2C}"/>
              </a:ext>
            </a:extLst>
          </p:cNvPr>
          <p:cNvSpPr txBox="1"/>
          <p:nvPr/>
        </p:nvSpPr>
        <p:spPr>
          <a:xfrm>
            <a:off x="11117178" y="6496954"/>
            <a:ext cx="1074822" cy="3610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1290" y="0"/>
            <a:ext cx="12700" cy="6858000"/>
          </a:xfrm>
          <a:prstGeom prst="rect">
            <a:avLst/>
          </a:prstGeom>
          <a:solidFill>
            <a:srgbClr val="0B6B8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126997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C3038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QUESTION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2140942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053284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EVIDENCE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0" y="5965627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CLAIM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38874" y="482600"/>
            <a:ext cx="1035282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0B6B8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01 · STARTING POINT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38874" y="746125"/>
            <a:ext cx="9768635" cy="6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4600" kern="100" spc="-83" dirty="0">
                <a:solidFill>
                  <a:srgbClr val="0C3038"/>
                </a:solidFill>
                <a:latin typeface="Tomorrow SemiBold" pitchFamily="34" charset="0"/>
              </a:rPr>
              <a:t>Introduction to Research</a:t>
            </a:r>
            <a:endParaRPr lang="en-US" sz="4600" kern="100" spc="-83" dirty="0">
              <a:solidFill>
                <a:srgbClr val="0C3038"/>
              </a:solidFill>
              <a:latin typeface="Tomorrow SemiBold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38874" y="1563886"/>
            <a:ext cx="10352821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Research is systematic inquiry: a planned way to ask, investigate, and explain.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38874" y="2069306"/>
            <a:ext cx="9588757" cy="3681254"/>
          </a:xfrm>
          <a:prstGeom prst="rect">
            <a:avLst/>
          </a:prstGeom>
          <a:solidFill>
            <a:srgbClr val="D2E8ED"/>
          </a:solidFill>
          <a:ln/>
          <a:effectLst>
            <a:outerShdw blurRad="127" dist="62230" dir="16200000" algn="bl" rotWithShape="0">
              <a:srgbClr val="098BA6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67469" y="2297906"/>
            <a:ext cx="4274733" cy="867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Purpose shapes the inquiry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67469" y="3298825"/>
            <a:ext cx="4274733" cy="185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550"/>
              </a:spcAft>
              <a:buNone/>
            </a:pPr>
            <a:r>
              <a:rPr lang="en-US" sz="2000" dirty="0">
                <a:solidFill>
                  <a:srgbClr val="0B6B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Basic</a:t>
            </a: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builds knowledge.</a:t>
            </a:r>
            <a:endParaRPr lang="en-US" sz="2000" dirty="0"/>
          </a:p>
          <a:p>
            <a:pPr marL="0" indent="0" algn="l">
              <a:lnSpc>
                <a:spcPct val="112000"/>
              </a:lnSpc>
              <a:spcAft>
                <a:spcPts val="550"/>
              </a:spcAft>
              <a:buNone/>
            </a:pPr>
            <a:r>
              <a:rPr lang="en-US" sz="2000" dirty="0">
                <a:solidFill>
                  <a:srgbClr val="0B6B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Applied</a:t>
            </a: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addresses a practical problem.</a:t>
            </a:r>
            <a:endParaRPr lang="en-US" sz="2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B6B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Exploratory</a:t>
            </a: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investigates what is not yet clear.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75588" y="2297906"/>
            <a:ext cx="4731921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dirty="0"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The question sets the path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75588" y="2865041"/>
            <a:ext cx="4731921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C3038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Descriptive</a:t>
            </a: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asks what is happening.</a:t>
            </a:r>
            <a:endParaRPr lang="en-US" sz="2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C3038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Analytical</a:t>
            </a: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asks why or how it happens.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27631" y="6472337"/>
            <a:ext cx="764064" cy="1616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kern="100" spc="38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9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43E7E2-A937-F6BA-B0FA-56324D5FD7C7}"/>
              </a:ext>
            </a:extLst>
          </p:cNvPr>
          <p:cNvSpPr txBox="1"/>
          <p:nvPr/>
        </p:nvSpPr>
        <p:spPr>
          <a:xfrm>
            <a:off x="11117178" y="6496954"/>
            <a:ext cx="1074822" cy="3610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7640" y="0"/>
            <a:ext cx="6350" cy="6858000"/>
          </a:xfrm>
          <a:prstGeom prst="rect">
            <a:avLst/>
          </a:prstGeom>
          <a:solidFill>
            <a:srgbClr val="0B6B8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QUESTION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2140942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126997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C3038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APPROACH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053284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EVIDENCE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0" y="5965627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CLAIM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13475" y="431800"/>
            <a:ext cx="103782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0B6B8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02 · METHOD CHOICE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13475" y="695325"/>
            <a:ext cx="9844833" cy="123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600" kern="100" spc="-83" dirty="0">
                <a:solidFill>
                  <a:srgbClr val="0C303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Research approach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813475" y="2132310"/>
            <a:ext cx="10378220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Suppose the question is: </a:t>
            </a:r>
            <a:r>
              <a:rPr lang="en-US" sz="2000" dirty="0">
                <a:solidFill>
                  <a:srgbClr val="0B6B8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Why is student attendance changing?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13475" y="2637730"/>
            <a:ext cx="3078383" cy="373767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2042069" y="2866330"/>
            <a:ext cx="262119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Quantitative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42069" y="3433465"/>
            <a:ext cx="2621195" cy="1361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Measures attendance rates and tests patterns across many students.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96650" y="2637730"/>
            <a:ext cx="3078383" cy="373767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425245" y="2866330"/>
            <a:ext cx="262119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Qualitative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25245" y="3433465"/>
            <a:ext cx="2621195" cy="1361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Uses interviews to understand students’ reasons, experiences, and context.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79826" y="2637730"/>
            <a:ext cx="3078482" cy="373767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8808420" y="2866330"/>
            <a:ext cx="2621294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Mixed methods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808420" y="3433465"/>
            <a:ext cx="2621294" cy="1361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Combines attendance records with interviews for breadth and explanation.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27631" y="6472337"/>
            <a:ext cx="764064" cy="1616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kern="100" spc="38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9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B84CAD-BDEB-D9F6-7085-A05AD6E3E48D}"/>
              </a:ext>
            </a:extLst>
          </p:cNvPr>
          <p:cNvSpPr txBox="1"/>
          <p:nvPr/>
        </p:nvSpPr>
        <p:spPr>
          <a:xfrm>
            <a:off x="11117178" y="6496954"/>
            <a:ext cx="1074822" cy="3610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1800"/>
            <a:ext cx="116583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0B6B8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03 · RESEARCH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3387" y="695325"/>
            <a:ext cx="11124922" cy="6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600" kern="100" spc="-83" dirty="0">
                <a:solidFill>
                  <a:srgbClr val="0C303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Follow a structured research process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33387" y="1498699"/>
            <a:ext cx="11658308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Each stage narrows the next decision and leaves a trace another researcher can examine.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33387" y="2004120"/>
            <a:ext cx="3555911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Select a topic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3387" y="2571254"/>
            <a:ext cx="3555911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Find a focused area worth investigating.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94090" y="2004120"/>
            <a:ext cx="340351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Define the problem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94090" y="2571254"/>
            <a:ext cx="3403515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State what is unknown or needs explanation.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02397" y="2004120"/>
            <a:ext cx="3555911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Review literature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102397" y="2571254"/>
            <a:ext cx="3555911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Learn what prior studies already show.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3387" y="3556695"/>
            <a:ext cx="3555911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Design the study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33387" y="4123829"/>
            <a:ext cx="3555911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Choose evidence, participants, and procedures.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94090" y="3556695"/>
            <a:ext cx="340351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Collect and analyze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94090" y="4123829"/>
            <a:ext cx="3403515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Gather data, inspect patterns, and test interpretations.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02397" y="3556695"/>
            <a:ext cx="3555911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Report findings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02397" y="4123829"/>
            <a:ext cx="3555911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Explain the evidence, limits, and conclusions.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27631" y="6472337"/>
            <a:ext cx="764064" cy="1616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kern="100" spc="38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210176-E579-7010-8258-869FAC092E7E}"/>
              </a:ext>
            </a:extLst>
          </p:cNvPr>
          <p:cNvSpPr txBox="1"/>
          <p:nvPr/>
        </p:nvSpPr>
        <p:spPr>
          <a:xfrm>
            <a:off x="11117178" y="6496954"/>
            <a:ext cx="1074822" cy="3610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1290" y="0"/>
            <a:ext cx="12700" cy="6858000"/>
          </a:xfrm>
          <a:prstGeom prst="rect">
            <a:avLst/>
          </a:prstGeom>
          <a:solidFill>
            <a:srgbClr val="0B6B8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QUESTION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2140942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126997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C3038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HYPOTHESIS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053284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EVIDENCE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0" y="5965627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CLAIM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13475" y="355600"/>
            <a:ext cx="103782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0B6B8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04 · FROM PROBLEM TO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13475" y="619125"/>
            <a:ext cx="9844833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65" dirty="0">
                <a:solidFill>
                  <a:srgbClr val="0C303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Research Problem &amp; hypothesis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771763"/>
              </p:ext>
            </p:extLst>
          </p:nvPr>
        </p:nvGraphicFramePr>
        <p:xfrm>
          <a:off x="1813475" y="1287859"/>
          <a:ext cx="9844833" cy="4163114"/>
        </p:xfrm>
        <a:graphic>
          <a:graphicData uri="http://schemas.openxmlformats.org/drawingml/2006/table">
            <a:tbl>
              <a:tblPr/>
              <a:tblGrid>
                <a:gridCol w="236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2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4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44" dirty="0">
                          <a:solidFill>
                            <a:srgbClr val="0B6B80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ELEMENT</a:t>
                      </a:r>
                      <a:endParaRPr lang="en-US" sz="11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8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44" dirty="0">
                          <a:solidFill>
                            <a:srgbClr val="0B6B80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STUDENT EXAMPLE · ROLE</a:t>
                      </a:r>
                      <a:endParaRPr lang="en-US" sz="11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7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3038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Problem</a:t>
                      </a:r>
                      <a:endParaRPr lang="en-US" sz="20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3038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Student attendance is lower in some classes than others.</a:t>
                      </a:r>
                      <a:endParaRPr lang="en-US" sz="20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3038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Objective</a:t>
                      </a:r>
                      <a:endParaRPr lang="en-US" sz="20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3038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Identify attendance factors — what the study will do</a:t>
                      </a:r>
                      <a:endParaRPr lang="en-US" sz="20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3038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Question</a:t>
                      </a:r>
                      <a:endParaRPr lang="en-US" sz="20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3038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Does commute time affect attendance? — what the study asks</a:t>
                      </a:r>
                      <a:endParaRPr lang="en-US" sz="20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3038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Variables</a:t>
                      </a:r>
                      <a:endParaRPr lang="en-US" sz="20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3038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Commute time · attendance — what can be measured</a:t>
                      </a:r>
                      <a:endParaRPr lang="en-US" sz="20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3038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Null hypothesis · H₀</a:t>
                      </a:r>
                      <a:endParaRPr lang="en-US" sz="20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C3038"/>
                          </a:solidFill>
                          <a:latin typeface="Archivo" pitchFamily="34" charset="0"/>
                          <a:ea typeface="Archivo" pitchFamily="34" charset="-122"/>
                          <a:cs typeface="Archivo" pitchFamily="34" charset="-120"/>
                        </a:rPr>
                        <a:t>Commute time has no relationship with attendance.</a:t>
                      </a:r>
                      <a:endParaRPr lang="en-US" sz="2000" dirty="0">
                        <a:latin typeface="Archivo" charset="0"/>
                        <a:ea typeface="Archivo" charset="0"/>
                        <a:cs typeface="Archiv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27631" y="6472337"/>
            <a:ext cx="764064" cy="1616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kern="100" spc="38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9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F1C05D-AD1A-A2BF-F597-BCACB87F34F8}"/>
              </a:ext>
            </a:extLst>
          </p:cNvPr>
          <p:cNvSpPr txBox="1"/>
          <p:nvPr/>
        </p:nvSpPr>
        <p:spPr>
          <a:xfrm>
            <a:off x="11117178" y="6496954"/>
            <a:ext cx="1074822" cy="3610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0B6B8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05 · STUDY BLUEPRINT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159860"/>
            <a:ext cx="10972526" cy="123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4600" kern="100" spc="-83" dirty="0">
                <a:solidFill>
                  <a:srgbClr val="0C3038"/>
                </a:solidFill>
                <a:latin typeface="Tomorrow SemiBold" pitchFamily="34" charset="0"/>
              </a:rPr>
              <a:t>Research Proposal</a:t>
            </a:r>
            <a:endParaRPr lang="en-US" sz="4600" kern="100" spc="-83" dirty="0">
              <a:solidFill>
                <a:srgbClr val="0C3038"/>
              </a:solidFill>
              <a:latin typeface="Tomorrow SemiBold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585" y="2295723"/>
            <a:ext cx="11582110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proposal turns an idea into an agreed plan for review, resourcing, and implementation.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801144"/>
            <a:ext cx="5333867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249414"/>
            <a:ext cx="5333867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Why the topic matters and what is already known.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4038005"/>
            <a:ext cx="5333867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4486275"/>
            <a:ext cx="5333867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issue, aims, research questions, and hypotheses.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48244" y="2801144"/>
            <a:ext cx="5333867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248244" y="3249414"/>
            <a:ext cx="5333867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Design, participants, tools, consent, and data protection.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48244" y="4038005"/>
            <a:ext cx="5333867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48244" y="4486275"/>
            <a:ext cx="5333867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Milestones, people, materials, access, and expected contribution.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427631" y="6472337"/>
            <a:ext cx="764064" cy="1616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kern="100" spc="38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9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CD27AD-323A-8D57-CA12-097CA5BF082F}"/>
              </a:ext>
            </a:extLst>
          </p:cNvPr>
          <p:cNvSpPr txBox="1"/>
          <p:nvPr/>
        </p:nvSpPr>
        <p:spPr>
          <a:xfrm>
            <a:off x="11117178" y="6496954"/>
            <a:ext cx="1074822" cy="3610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1290" y="0"/>
            <a:ext cx="12700" cy="6289675"/>
          </a:xfrm>
          <a:prstGeom prst="rect">
            <a:avLst/>
          </a:prstGeom>
          <a:solidFill>
            <a:srgbClr val="0B6B8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QUESTION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2129334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126997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C3038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DATA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030067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EVIDENCE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0" y="5930801"/>
            <a:ext cx="1203989" cy="13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950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CLAIM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61079" y="569416"/>
            <a:ext cx="1053061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 dirty="0">
                <a:solidFill>
                  <a:srgbClr val="0B6B8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06 · EVIDENCE IN PRACTICE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61079" y="832941"/>
            <a:ext cx="10225824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65" dirty="0">
                <a:solidFill>
                  <a:srgbClr val="0C303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Collect data with fit-for-purpose tools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661079" y="1501675"/>
            <a:ext cx="10530616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Match the source and tool to the question, population, and ethical obligations.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61079" y="2745680"/>
            <a:ext cx="5036714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22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 Primary · Questionnaire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61079" y="3219846"/>
            <a:ext cx="5036714" cy="1128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comparable answers from many participants.</a:t>
            </a:r>
          </a:p>
        </p:txBody>
      </p:sp>
      <p:sp>
        <p:nvSpPr>
          <p:cNvPr id="12" name="Text 10"/>
          <p:cNvSpPr/>
          <p:nvPr/>
        </p:nvSpPr>
        <p:spPr>
          <a:xfrm>
            <a:off x="6850189" y="2745680"/>
            <a:ext cx="5036714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Primary · Interview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0189" y="3219846"/>
            <a:ext cx="5036714" cy="1128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C3038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Useful when:</a:t>
            </a: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detailed experiences and explanations.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61079" y="4501157"/>
            <a:ext cx="5036714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Primary · Observation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61079" y="4975323"/>
            <a:ext cx="5036714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C3038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Useful when:</a:t>
            </a: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behavior in context.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0189" y="4501157"/>
            <a:ext cx="5036714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200" dirty="0">
                <a:solidFill>
                  <a:srgbClr val="0C3038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Secondary · Document review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0189" y="4975323"/>
            <a:ext cx="5036714" cy="1128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C3038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Useful when:</a:t>
            </a:r>
            <a:r>
              <a:rPr lang="en-US" sz="2000" dirty="0">
                <a:solidFill>
                  <a:srgbClr val="0C3038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relevant records or existing datasets already exist.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27631" y="6472337"/>
            <a:ext cx="764064" cy="1616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kern="100" spc="38" dirty="0">
                <a:solidFill>
                  <a:srgbClr val="0B6B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</a:t>
            </a:r>
            <a:endParaRPr lang="en-US" sz="95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DFF391-7352-48C8-B196-F9F7B55362A7}"/>
              </a:ext>
            </a:extLst>
          </p:cNvPr>
          <p:cNvSpPr txBox="1"/>
          <p:nvPr/>
        </p:nvSpPr>
        <p:spPr>
          <a:xfrm>
            <a:off x="11117178" y="6496954"/>
            <a:ext cx="1074822" cy="3610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774F014-79A2-396C-C9F5-803DAFE6F83A}"/>
              </a:ext>
            </a:extLst>
          </p:cNvPr>
          <p:cNvSpPr/>
          <p:nvPr/>
        </p:nvSpPr>
        <p:spPr>
          <a:xfrm>
            <a:off x="533387" y="406400"/>
            <a:ext cx="116583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96">
                <a:solidFill>
                  <a:srgbClr val="0B6B80"/>
                </a:solidFill>
                <a:latin typeface="Geist Mono SemiBold" pitchFamily="34" charset="0"/>
                <a:ea typeface="Geist Mono SemiBold" pitchFamily="34" charset="-122"/>
                <a:cs typeface="Geist Mono SemiBold" pitchFamily="34" charset="-120"/>
              </a:rPr>
              <a:t>7. CONCLUSION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C6D4917-6423-1B59-C4C1-461F03576B1A}"/>
              </a:ext>
            </a:extLst>
          </p:cNvPr>
          <p:cNvSpPr/>
          <p:nvPr/>
        </p:nvSpPr>
        <p:spPr>
          <a:xfrm>
            <a:off x="533387" y="669925"/>
            <a:ext cx="11124922" cy="6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600" kern="100" spc="-83" dirty="0">
                <a:solidFill>
                  <a:srgbClr val="0C3038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From question to trustworthy finding</a:t>
            </a:r>
            <a:endParaRPr lang="en-US" sz="46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A1E7074C-4ACB-C306-5663-8BC6CDC3440F}"/>
              </a:ext>
            </a:extLst>
          </p:cNvPr>
          <p:cNvSpPr/>
          <p:nvPr/>
        </p:nvSpPr>
        <p:spPr>
          <a:xfrm>
            <a:off x="873760" y="2638465"/>
            <a:ext cx="5410065" cy="2913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C3038"/>
                </a:solidFill>
                <a:latin typeface="Archivo" pitchFamily="34" charset="0"/>
                <a:cs typeface="Archivo" pitchFamily="34" charset="-120"/>
              </a:rPr>
              <a:t>Identify the research problem.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C3038"/>
                </a:solidFill>
                <a:latin typeface="Archivo" pitchFamily="34" charset="0"/>
                <a:cs typeface="Archivo" pitchFamily="34" charset="-120"/>
              </a:rPr>
              <a:t>Review existing knowledge.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C3038"/>
                </a:solidFill>
                <a:latin typeface="Archivo" pitchFamily="34" charset="0"/>
                <a:cs typeface="Archivo" pitchFamily="34" charset="-120"/>
              </a:rPr>
              <a:t>Choose the right research method.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C3038"/>
                </a:solidFill>
                <a:latin typeface="Archivo" pitchFamily="34" charset="0"/>
                <a:cs typeface="Archivo" pitchFamily="34" charset="-120"/>
              </a:rPr>
              <a:t>Collect &amp; </a:t>
            </a:r>
            <a:r>
              <a:rPr lang="en-IN" sz="2000" dirty="0" err="1">
                <a:solidFill>
                  <a:srgbClr val="0C3038"/>
                </a:solidFill>
                <a:latin typeface="Archivo" pitchFamily="34" charset="0"/>
                <a:cs typeface="Archivo" pitchFamily="34" charset="-120"/>
              </a:rPr>
              <a:t>analyze</a:t>
            </a:r>
            <a:r>
              <a:rPr lang="en-IN" sz="2000" dirty="0">
                <a:solidFill>
                  <a:srgbClr val="0C3038"/>
                </a:solidFill>
                <a:latin typeface="Archivo" pitchFamily="34" charset="0"/>
                <a:cs typeface="Archivo" pitchFamily="34" charset="-120"/>
              </a:rPr>
              <a:t> data.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C3038"/>
                </a:solidFill>
                <a:latin typeface="Archivo" pitchFamily="34" charset="0"/>
                <a:cs typeface="Archivo" pitchFamily="34" charset="-120"/>
              </a:rPr>
              <a:t>Ensure reliable and valid results.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68B822-2E61-AF2E-B2A7-6189B28DFB50}"/>
              </a:ext>
            </a:extLst>
          </p:cNvPr>
          <p:cNvSpPr txBox="1"/>
          <p:nvPr/>
        </p:nvSpPr>
        <p:spPr>
          <a:xfrm>
            <a:off x="873760" y="1493520"/>
            <a:ext cx="980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C3038"/>
                </a:solidFill>
                <a:latin typeface="Archivo" pitchFamily="34" charset="0"/>
                <a:cs typeface="Archivo" pitchFamily="34" charset="-120"/>
              </a:rPr>
              <a:t>A systematic research methodology helps us conduct research in a structured, reliable, and meaningful way.</a:t>
            </a:r>
            <a:endParaRPr lang="en-US" dirty="0">
              <a:solidFill>
                <a:srgbClr val="0C3038"/>
              </a:solidFill>
              <a:latin typeface="Archivo" pitchFamily="34" charset="0"/>
              <a:cs typeface="Archivo" pitchFamily="34" charset="-120"/>
            </a:endParaRP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B87338-A442-B5CC-6E72-7142C2EC48A9}"/>
              </a:ext>
            </a:extLst>
          </p:cNvPr>
          <p:cNvSpPr txBox="1"/>
          <p:nvPr/>
        </p:nvSpPr>
        <p:spPr>
          <a:xfrm>
            <a:off x="11117178" y="6496954"/>
            <a:ext cx="1074822" cy="3610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2" name="Picture 21" descr="Research Methodology Guide: Writing Tips, Types, &amp; Examples">
            <a:extLst>
              <a:ext uri="{FF2B5EF4-FFF2-40B4-BE49-F238E27FC236}">
                <a16:creationId xmlns:a16="http://schemas.microsoft.com/office/drawing/2014/main" id="{70DA2803-E6E9-A67C-1E49-73420EA19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60" y="1859919"/>
            <a:ext cx="5846558" cy="432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94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526</Words>
  <Application>Microsoft Office PowerPoint</Application>
  <PresentationFormat>Widescreen</PresentationFormat>
  <Paragraphs>115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Geist Mono SemiBold</vt:lpstr>
      <vt:lpstr>Geist Mono</vt:lpstr>
      <vt:lpstr>Archivo Bold</vt:lpstr>
      <vt:lpstr>Tomorrow SemiBold</vt:lpstr>
      <vt:lpstr>Archivo SemiBold</vt:lpstr>
      <vt:lpstr>Archivo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DEBANJAN BERA</cp:lastModifiedBy>
  <cp:revision>9</cp:revision>
  <dcterms:created xsi:type="dcterms:W3CDTF">2026-10-05T13:53:29Z</dcterms:created>
  <dcterms:modified xsi:type="dcterms:W3CDTF">2026-10-05T14:25:40Z</dcterms:modified>
</cp:coreProperties>
</file>